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E9A8C-3F50-49F8-A835-316C22A1110D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3F9-2D09-4642-A3BD-5BF627A06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6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PIVOT: Pivot Interruptible Execution Runtime.</a:t>
            </a:r>
          </a:p>
          <a:p>
            <a:r>
              <a:t>Samsung PRISM GenAI Hackathon 2026, 3rd Edition, Theme 05 — Interruptible Real-Time Agents.</a:t>
            </a:r>
          </a:p>
          <a:p>
            <a:r>
              <a:t>Team: Samseon Sukas, SRM Institute of Science and Technology.</a:t>
            </a:r>
          </a:p>
          <a:p>
            <a:r>
              <a:t>Team Leader / Representative: Vaishnavi Jagtap (RA2411003011544, vj9724@srmist.edu.in).</a:t>
            </a:r>
          </a:p>
          <a:p>
            <a:r>
              <a:t>Team Members: Aarav Pilania (RA2411003011536), Aryan Shukla (RA2411003012361).</a:t>
            </a:r>
          </a:p>
          <a:p>
            <a:r>
              <a:t>Public Repository: https://github.com/aryan-astra/Pivot at release tag PRISM_GENAI_HACKATHON_Y2026.</a:t>
            </a:r>
          </a:p>
          <a:p>
            <a:endParaRPr/>
          </a:p>
          <a:p>
            <a:r>
              <a:t>Core Product Thesis:</a:t>
            </a:r>
          </a:p>
          <a:p>
            <a:r>
              <a:t>PIVOT is an interruptible execution runtime for real-time AI agents. In full-duplex conversations, users frequently change constraints while perception, reasoning, and tool execution are running concurrently on a unified timeline. Traditional agents either discard all progress with a full restart or suffer state corruption from late tool completions. PIVOT introduces dependency-aware invalidation and monotonic state versioning governed by the core principle: 'Cancellation is advisory. Validity is authoritative.'</a:t>
            </a:r>
          </a:p>
          <a:p>
            <a:r>
              <a:t>When an interruption occurs, PIVOT calculates a semantic diff, preserves unaffected tasks, fences in-flight stale work, increments a monotonic state version, and rejects late results at the commit gate with STALE_RESULT_REJECTED. The entire runtime operates deterministically with zero API keys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2: Theme Framing &amp; Core Problem Formulation.</a:t>
            </a:r>
          </a:p>
          <a:p>
            <a:r>
              <a:t>Reference: Theme 05 Guide — 'Interruptible Real-Time Agents: Voice-native assistant architecture: fast-and-slow execution and robust interruption handling.'</a:t>
            </a:r>
          </a:p>
          <a:p>
            <a:endParaRPr/>
          </a:p>
          <a:p>
            <a:r>
              <a:t>Concurrency &amp; State Consistency:</a:t>
            </a:r>
          </a:p>
          <a:p>
            <a:r>
              <a:t>Traditional single-turn agents assume serial turn-taking (listen -&gt; think -&gt; act -&gt; respond). Real-time agents break this paradigm by executing tools asynchronously while actively conversing with the user on a unified timeline. When the user changes constraints mid-sentence, the fundamental technical problem is state consistency: in-flight asynchronous workers are executing under assumptions that have just been superseded. If those workers commit their results, they poison the state snapshot with stale data.</a:t>
            </a:r>
          </a:p>
          <a:p>
            <a:endParaRPr/>
          </a:p>
          <a:p>
            <a:r>
              <a:t>PIVOT's Solution: Read-Set Dependency Mapping:</a:t>
            </a:r>
          </a:p>
          <a:p>
            <a:r>
              <a:t>Instead of treating interruption as an all-or-nothing reset, PIVOT requires tasks to declare their read-sets (the parameters they depend on). When an interruption occurs, PIVOT calculates a localized slot diff and compares it to each task's read-set. Tasks reading changed slots are fenced and invalidated; tasks that do not read changed slots are explicitly preserved. This enables localized slot correction, prevents stale state pollution, and preserves computational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3: Existing Solutions &amp; Gaps Analysis.</a:t>
            </a:r>
          </a:p>
          <a:p>
            <a:r>
              <a:t>Methodology: Repository audit of open-source agent runtimes, speech pipeline frameworks, and LLM orchestration tools.</a:t>
            </a:r>
          </a:p>
          <a:p>
            <a:endParaRPr/>
          </a:p>
          <a:p>
            <a:r>
              <a:t>Audit Findings:</a:t>
            </a:r>
          </a:p>
          <a:p>
            <a:r>
              <a:t>1. Voice Barge-in Stacks: Excellent at audio floor management (silencing TTS within 200 ms). However, they have no connection to the backend execution graph; async tool workers continue running blindly in background threads.</a:t>
            </a:r>
          </a:p>
          <a:p>
            <a:r>
              <a:t>2. Tool-Call Cancellation: Relies on cooperative cancellation tokens (asyncio CancelledError). If a background worker is blocked in an I/O call or does not check cancellation tokens promptly, its completion will commit stale results into the state snapshot.</a:t>
            </a:r>
          </a:p>
          <a:p>
            <a:r>
              <a:t>3. Scripted Workflows &amp; Breakpoints: Effective for deterministic enterprise workflows, but rigid. Breakpoints pause execution at predefined steps, but cannot calculate a semantic diff or dynamically rewire dependencies in response to conversational self-repair.</a:t>
            </a:r>
          </a:p>
          <a:p>
            <a:r>
              <a:t>4. LLM Agent Frameworks (e.g. LangChain, CrewAI, AutoGen): Typically maintain a linear scratchpad. When interrupted, the agent either discards its entire context window and restarts from scratch, or blindly appends the correction, leading to hallucination and duplicated state-modifying tool calls.</a:t>
            </a:r>
          </a:p>
          <a:p>
            <a:endParaRPr/>
          </a:p>
          <a:p>
            <a:r>
              <a:t>The PIVOT Shift: PIVOT separates cancellation from validity. Cancellation signals the worker cooperatively, but the commit gate authoritatively fences stale outputs based on monotonic state versioning.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4: PIVOT Solution &amp; Architecture.</a:t>
            </a:r>
          </a:p>
          <a:p>
            <a:r>
              <a:t>Accessibility: Architecture diagram renders sequential ingress, classification, semantic diff, versioned fencing, and replanning across SQLite persistence and React workspace rails.</a:t>
            </a:r>
          </a:p>
          <a:p>
            <a:endParaRPr/>
          </a:p>
          <a:p>
            <a:r>
              <a:t>Key Implementation Codebase References:</a:t>
            </a:r>
          </a:p>
          <a:p>
            <a:r>
              <a:t>• API Router &amp; Lifespan: backend/api/main.py (16 FastAPI routes, 12 application routes + 4 docs routes)</a:t>
            </a:r>
          </a:p>
          <a:p>
            <a:r>
              <a:t>• Runtime Orchestration: backend/runtime/runtime.py (PivotRuntime orchestration loop)</a:t>
            </a:r>
          </a:p>
          <a:p>
            <a:r>
              <a:t>• Semantic Diff &amp; Parser: backend/runtime/semantic.py (SemanticDiff, classify_interruption, parse_intent)</a:t>
            </a:r>
          </a:p>
          <a:p>
            <a:r>
              <a:t>• State Manager: backend/runtime/state.py (StateManager, monotonic version counter, SQLite WAL persistence)</a:t>
            </a:r>
          </a:p>
          <a:p>
            <a:r>
              <a:t>• Graph Engine: backend/runtime/graph.py (ExecutionGraph, read-set tracking, topological sorting)</a:t>
            </a:r>
          </a:p>
          <a:p>
            <a:r>
              <a:t>• Scheduler: backend/runtime/scheduler.py (TaskScheduler, concurrency management, priority queue)</a:t>
            </a:r>
          </a:p>
          <a:p>
            <a:r>
              <a:t>• Interruption Manager: backend/runtime/interruption.py (InterruptionManager, recovery-frontier calculation)</a:t>
            </a:r>
          </a:p>
          <a:p>
            <a:r>
              <a:t>• Event Bus: backend/runtime/events.py (EventBus, typed events: TASK_PRESERVED, TASK_FENCED, STALE_RESULT_REJECTED)</a:t>
            </a:r>
          </a:p>
          <a:p>
            <a:r>
              <a:t>• Deterministic Providers: backend/providers/deterministic.py (zero-key offline deterministic execution)</a:t>
            </a:r>
          </a:p>
          <a:p>
            <a:r>
              <a:t>• Browser Automation: backend/browser/executor.py (Playwright Chromium session, DOM text extraction, screenshots)</a:t>
            </a:r>
          </a:p>
          <a:p>
            <a:r>
              <a:t>• Frontend API Client: frontend/src/runtime/api.ts (HTTP polling, state normalization, event stream windowing)</a:t>
            </a:r>
          </a:p>
          <a:p>
            <a:r>
              <a:t>• Runtime Hook: frontend/src/hooks/useRuntime.ts (active 700 ms / idle 4 s polling, immediate post-send refresh)</a:t>
            </a:r>
          </a:p>
          <a:p>
            <a:r>
              <a:t>• Dev Mode Inspector: frontend/src/components/Inspector.tsx (live graph visualization and event timeline)</a:t>
            </a:r>
          </a:p>
          <a:p>
            <a:r>
              <a:t>• Impact Card: frontend/src/components/Impact.tsx (real-time diff and preserved/fenced breakdown)</a:t>
            </a:r>
          </a:p>
          <a:p>
            <a:endParaRPr/>
          </a:p>
          <a:p>
            <a:r>
              <a:t>Commit Gate Implementation:</a:t>
            </a:r>
          </a:p>
          <a:p>
            <a:r>
              <a:t>When an in-flight worker finishes, it submits a TaskResult stamped with its origin_version. The runtime checks:</a:t>
            </a:r>
          </a:p>
          <a:p>
            <a:r>
              <a:t>if task_result.origin_version == state.version: commit_result()</a:t>
            </a:r>
          </a:p>
          <a:p>
            <a:r>
              <a:t>else: emit(STALE_RESULT_REJECTED)</a:t>
            </a:r>
          </a:p>
          <a:p>
            <a:r>
              <a:t>This completely eliminates race conditions without relying on cooperative thread cancellation.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5: Demonstration &amp; Step-by-Step Product Walkthrough.</a:t>
            </a:r>
          </a:p>
          <a:p>
            <a:r>
              <a:t>Primary Demo Story: Budget Modification (₹60,000 → ₹80,000).</a:t>
            </a:r>
          </a:p>
          <a:p>
            <a:endParaRPr/>
          </a:p>
          <a:p>
            <a:r>
              <a:t>Walkthrough Chronology:</a:t>
            </a:r>
          </a:p>
          <a:p>
            <a:r>
              <a:t>1. Figure 1 (In-Flight Execution v1): The user asks 'Find laptops under ₹60,000 with 8 GB RAM on Amazon and Flipkart'. The runtime decomposes this into 6 tasks. Search Amazon, Search Flipkart, Parse Amazon, and Parse Flipkart complete. Merge Candidates and Compare &amp; Rank are currently in flight (at 47% and 39% execution).</a:t>
            </a:r>
          </a:p>
          <a:p>
            <a:r>
              <a:t>2. Figure 2 (Interruption &amp; Diff): The user interrupts with 'Wait, the budget is ₹80,000 now'. The semantic diff engine identifies a localized slot correction on max_price (₹60,000 -&gt; ₹80,000). State version bumps v1 -&gt; v2.</a:t>
            </a:r>
          </a:p>
          <a:p>
            <a:r>
              <a:t>3. Figure 3 (Dev Mode Inspector v2): Read-set impact analysis inspects the dependency graph:</a:t>
            </a:r>
          </a:p>
          <a:p>
            <a:r>
              <a:t>   - Search Amazon &amp; Search Flipkart do not read max_price -&gt; PRESERVED 02.</a:t>
            </a:r>
          </a:p>
          <a:p>
            <a:r>
              <a:t>   - Parse Amazon &amp; Parse Flipkart read max_price and completed under v1 -&gt; INVALIDATED 02.</a:t>
            </a:r>
          </a:p>
          <a:p>
            <a:r>
              <a:t>   - Merge Candidates &amp; Compare &amp; Rank were running in flight under v1 -&gt; FENCED 02.</a:t>
            </a:r>
          </a:p>
          <a:p>
            <a:r>
              <a:t>   - Impact Score: 0.33. Dev Mode inspector displays 02 PRESERVED / 02 INVALIDATED / 02 FENCED.</a:t>
            </a:r>
          </a:p>
          <a:p>
            <a:r>
              <a:t>4. Figure 4 (Settled Output v2 Applied): The two fenced v1 tasks finish and return results, but are intercepted and rejected at the commit gate with STALE_RESULT_REJECTED. A replacement plan finishes under v2, delivering the final answer with laptops under ₹80,000. State V2 Applied badge confirms state integrity.</a:t>
            </a:r>
          </a:p>
          <a:p>
            <a:endParaRPr/>
          </a:p>
          <a:p>
            <a:r>
              <a:t>Timing Gate Detail (Speaker Note Only):</a:t>
            </a:r>
          </a:p>
          <a:p>
            <a:r>
              <a:t>The 2/2/2 outcome occurs when the interruption arrives after both parse steps complete (~7.5 s) and while Merge and Compare are in flight (~9 s to 18 s). The measured gate window is approximately 9 seconds.</a:t>
            </a:r>
          </a:p>
          <a:p>
            <a:r>
              <a:t>Honesty Disclosure: Shopping steps run as a labelled deterministic local simulation; browse/search steps drive real local Chromium.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6: Technology Stack &amp; Implementation Architecture.</a:t>
            </a:r>
          </a:p>
          <a:p>
            <a:r>
              <a:t>Infrastructure Breakdown:</a:t>
            </a:r>
          </a:p>
          <a:p>
            <a:r>
              <a:t>• Frontend Workspace: React 19, TypeScript 5.9, Vite 7, Tailwind CSS 4, Framer Motion. Built as single-file production dist. Frontend typecheck clean verified with tsc --noEmit.</a:t>
            </a:r>
          </a:p>
          <a:p>
            <a:r>
              <a:t>• Runtime Core: Pure Python asyncio. Designed around a dual-process model (fast-path HTTP polling / state queries, slow-path asynchronous tool execution). Monotonic state management built into StateManager.</a:t>
            </a:r>
          </a:p>
          <a:p>
            <a:r>
              <a:t>• API Layer: FastAPI with 16 registered routes (12 application routes handling message, interrupt, state, reset, events, plus 4 auto-generated documentation endpoints: /docs, /redoc, /openapi.json).</a:t>
            </a:r>
          </a:p>
          <a:p>
            <a:r>
              <a:t>• Browser Subsystem: Playwright 1.63.0 driving Chromium. Verified locally against Wikipedia with real DOM text extraction and JPEG capture.</a:t>
            </a:r>
          </a:p>
          <a:p>
            <a:r>
              <a:t>• Persistence: SQLite with Write-Ahead Logging (WAL) mode enabled for high-concurrency read/write operations without table locking. Stores state_versions, event log, and recovery checkpoints.</a:t>
            </a:r>
          </a:p>
          <a:p>
            <a:r>
              <a:t>• Zero-Key Determinism: Pluggable provider interfaces with deterministic implementations. Zero external API keys or paid model tokens are required to evaluate, test, or run PIVOT.</a:t>
            </a:r>
          </a:p>
          <a:p>
            <a:r>
              <a:t>• Verification Evidence: 112 pytest tests passing (41 browser tests + 71 runtime tests) in 8.85 seconds. All 43 documentation references resolve; security scan detected zero high-confidence secrets across 94 tracked files.</a:t>
            </a:r>
          </a:p>
          <a:p>
            <a:r>
              <a:t>• Containerization: Docker and docker-compose configurations provided. Docker image pins Python 3.12.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7: Practical Impact &amp; Domain Use Cases.</a:t>
            </a:r>
          </a:p>
          <a:p>
            <a:r>
              <a:t>Domain Analysis:</a:t>
            </a:r>
          </a:p>
          <a:p>
            <a:r>
              <a:t>1. Comparison Shopping: Changing a memory constraint from 8 GB to 16 GB invalidates only memory-dependent filtering, preserving raw search fetches from retailers.</a:t>
            </a:r>
          </a:p>
          <a:p>
            <a:r>
              <a:t>2. Travel Planning: Changing a flight destination from Bangalore to Chennai invalidates hotel searches and destination flight queries, while preserving user date constraints, passenger details, and airline preferences.</a:t>
            </a:r>
          </a:p>
          <a:p>
            <a:r>
              <a:t>3. Research Lookups: Changing query subject from Elon Musk to Sam Altman swaps entity parameters while retaining the document outline and citation format.</a:t>
            </a:r>
          </a:p>
          <a:p>
            <a:r>
              <a:t>4. Support-Style Clarification: The query 'Why are you checking Flipkart?' is recognized as clarification, not modification. The agent generates an explanatory turn without interrupting background tool operations.</a:t>
            </a:r>
          </a:p>
          <a:p>
            <a:endParaRPr/>
          </a:p>
          <a:p>
            <a:r>
              <a:t>Quantifiable Benefits: Eliminates redundant network I/O, prevents race conditions from late completions, reduces user latency, and ensures rock-solid state snapshot integrity.</a:t>
            </a:r>
          </a:p>
          <a:p>
            <a:r>
              <a:t>Honesty Disclosure: Potential applications implied by design; no commercial customer deployments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8: Innovation Highlights, Measured Results, and Honest Limitations.</a:t>
            </a:r>
          </a:p>
          <a:p>
            <a:r>
              <a:t>Verified Metrics Methodology:</a:t>
            </a:r>
          </a:p>
          <a:p>
            <a:r>
              <a:t>• Test Suite: 112 pytest tests, 112 passed, 0 failed, executing in 8.85 s (41 browser module tests + 71 runtime tests).</a:t>
            </a:r>
          </a:p>
          <a:p>
            <a:r>
              <a:t>• Interrupt Endpoint Latency: POST /api/interrupt measured at 11.00 ms median across 15 runs on local hardware. Includes intent classification, intent parsing, semantic diff, impact analysis, task preserve/fence transitions, state version increment, SQLite WAL checkpoint, recovery-frontier calculation, and scheduling 6 replacement tasks. All execution is local computation; no external model or network call is involved.</a:t>
            </a:r>
          </a:p>
          <a:p>
            <a:r>
              <a:t>• Micro-benchmarks (10,000-iteration means):</a:t>
            </a:r>
          </a:p>
          <a:p>
            <a:r>
              <a:t>  - semantic diff: 2.14 µs</a:t>
            </a:r>
          </a:p>
          <a:p>
            <a:r>
              <a:t>  - impact analysis: 3.67 µs</a:t>
            </a:r>
          </a:p>
          <a:p>
            <a:r>
              <a:t>  - recovery-frontier computation: 0.72 µs</a:t>
            </a:r>
          </a:p>
          <a:p>
            <a:r>
              <a:t>• Message Planning Endpoint: POST /api/message median is 19.87 ms (plans 6 tasks).</a:t>
            </a:r>
          </a:p>
          <a:p>
            <a:r>
              <a:t>• Fencing Verification: In the budget demo (₹60,000 -&gt; ₹80,000), the two fenced tasks (Merge Candidates, Compare &amp; Rank) completed their execution, but their results were rejected at the commit gate with STALE_RESULT_REJECTED (origin version 1, current version 2). Late v1 results never overwrote v2 state.</a:t>
            </a:r>
          </a:p>
          <a:p>
            <a:r>
              <a:t>• Visual Evidence: Figure pivot_s08_fig1_fence_evidence.png displays the task.fenced event in the Dev Mode timeline.</a:t>
            </a:r>
          </a:p>
          <a:p>
            <a:endParaRPr/>
          </a:p>
          <a:p>
            <a:r>
              <a:t>Factual Limitations Disclosure:</a:t>
            </a:r>
          </a:p>
          <a:p>
            <a:r>
              <a:t>1. Deterministic pattern-based intent parsing: handles common patterns, not general NLU.</a:t>
            </a:r>
          </a:p>
          <a:p>
            <a:r>
              <a:t>2. Shopping comparison is a labelled local simulation; real Playwright covers Wikipedia browse/search.</a:t>
            </a:r>
          </a:p>
          <a:p>
            <a:r>
              <a:t>3. Interruption scoring is heuristic-based.</a:t>
            </a:r>
          </a:p>
          <a:p>
            <a:r>
              <a:t>4. No audio or video-frame streaming input yet.</a:t>
            </a:r>
          </a:p>
          <a:p>
            <a:r>
              <a:t>5. No evaluation-kit score; the kit was released post-registration.</a:t>
            </a:r>
          </a:p>
          <a:p>
            <a:r>
              <a:t>6. Replan currently regenerates the 6-task plan under v2 with the recovery frontier computed and reported.</a:t>
            </a:r>
          </a:p>
          <a:p>
            <a:r>
              <a:t>7. Single-instance SQLite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9: Future Engineering Roadmap &amp; Contract Alignment.</a:t>
            </a:r>
          </a:p>
          <a:p>
            <a:r>
              <a:t>Notice: All roadmap items represent future engineering work and are clearly marked as future enhancements.</a:t>
            </a:r>
          </a:p>
          <a:p>
            <a:endParaRPr/>
          </a:p>
          <a:p>
            <a:r>
              <a:t>Three Dedicated Lanes:</a:t>
            </a:r>
          </a:p>
          <a:p>
            <a:r>
              <a:t>1. Runtime Lane:</a:t>
            </a:r>
          </a:p>
          <a:p>
            <a:r>
              <a:t>   - Integrating LLMs for natural language intent parsing behind the provider interface, using the deterministic regex parser as a fallback.</a:t>
            </a:r>
          </a:p>
          <a:p>
            <a:r>
              <a:t>   - Scoping replanning exclusively to the computed recovery frontier to automatically reuse preserved task outputs without regenerating the full plan.</a:t>
            </a:r>
          </a:p>
          <a:p>
            <a:r>
              <a:t>   - Introducing production idempotency keys for state-modifying tool calls.</a:t>
            </a:r>
          </a:p>
          <a:p>
            <a:r>
              <a:t>2. Evaluation &amp; Contract Lane:</a:t>
            </a:r>
          </a:p>
          <a:p>
            <a:r>
              <a:t>   - Running the official Samsung PRISM evaluation kit once released post-registration to establish official benchmark scores.</a:t>
            </a:r>
          </a:p>
          <a:p>
            <a:r>
              <a:t>   - Implementing timestamped event queues, action output streams, end-of-turn markers, and explicit call_id on all tool calls.</a:t>
            </a:r>
          </a:p>
          <a:p>
            <a:r>
              <a:t>   - Parsing dynamic JSON schema tool manifests.</a:t>
            </a:r>
          </a:p>
          <a:p>
            <a:r>
              <a:t>   - Ingesting raw audio clips (WAV) and camera frames (PNG).</a:t>
            </a:r>
          </a:p>
          <a:p>
            <a:r>
              <a:t>3. Product Lane:</a:t>
            </a:r>
          </a:p>
          <a:p>
            <a:r>
              <a:t>   - Expanding tool connectors for enterprise APIs.</a:t>
            </a:r>
          </a:p>
          <a:p>
            <a:r>
              <a:t>   - Upgrading SQLite to distributed PostgreSQL / Redis.</a:t>
            </a:r>
          </a:p>
          <a:p>
            <a:r>
              <a:t>   - Multi-session concurrency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10: Brownie Points — Architectural Differentiation.</a:t>
            </a:r>
          </a:p>
          <a:p>
            <a:r>
              <a:t>Core Distinction:</a:t>
            </a:r>
          </a:p>
          <a:p>
            <a:r>
              <a:t>Standard voice agents treat interruption purely as an audio/turn-taking problem: detect voice activity, stop audio generation, and clear the prompt. However, they leave backend tool calls dangling or completely wipe session history.</a:t>
            </a:r>
          </a:p>
          <a:p>
            <a:endParaRPr/>
          </a:p>
          <a:p>
            <a:r>
              <a:t>PIVOT treats interruption as an asynchronous concurrency and state-consistency challenge:</a:t>
            </a:r>
          </a:p>
          <a:p>
            <a:r>
              <a:t>1. Semantic Invalidation: Evaluates task read-sets against changed fields, ensuring valid work is preserved.</a:t>
            </a:r>
          </a:p>
          <a:p>
            <a:r>
              <a:t>2. State-Version Fencing: Monotonic versioning at the commit gate enforces that cancellation is advisory while validity is authoritative.</a:t>
            </a:r>
          </a:p>
          <a:p>
            <a:r>
              <a:t>3. Recovery Frontier: Explicitly computes the boundary of invalidated tasks to prepare for structured replanning.</a:t>
            </a:r>
          </a:p>
          <a:p>
            <a:r>
              <a:t>4. Transparent State Lifecycle: Preserved, invalidated, and fenced tasks are explicitly reported via typed events.</a:t>
            </a:r>
          </a:p>
          <a:p>
            <a:r>
              <a:t>5. Zero-Key Determinism: Pluggable provider architecture allows complete evaluation and validation without third-party API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11: Official Submission Checklist.</a:t>
            </a:r>
          </a:p>
          <a:p>
            <a:r>
              <a:t>Verification Status:</a:t>
            </a:r>
          </a:p>
          <a:p>
            <a:r>
              <a:t>• Working prototype code: YES. PIVOT public repository hosted at https://github.com/aryan-astra/Pivot. Pinned to release tag PRISM_GENAI_HACKATHON_Y2026.</a:t>
            </a:r>
          </a:p>
          <a:p>
            <a:r>
              <a:t>• Reproducible setup instructions: YES. Detailed README with exact commands, environment configuration (.env.example), and docker-compose workflow. Verified 43 markdown documentation links.</a:t>
            </a:r>
          </a:p>
          <a:p>
            <a:r>
              <a:t>• Demo video: YES. Placeholder marked as [video link to be added] per prompt instructions.</a:t>
            </a:r>
          </a:p>
          <a:p>
            <a:r>
              <a:t>• Presentation file: YES. 12-slide submission deck conforming to official template geometry and technical evidence report.</a:t>
            </a:r>
          </a:p>
          <a:p>
            <a:r>
              <a:t>• Test Evidence: 112 pytest tests passing with zero failures. Clean TypeScript frontend typecheck (tsc --noEmit). Secret scan clean across 94 tracked repository files. 16 FastAPI routes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12: Closing Remarks.</a:t>
            </a:r>
          </a:p>
          <a:p>
            <a:r>
              <a:t>'The models are replaceable. The runtime is the product.'</a:t>
            </a:r>
          </a:p>
          <a:p>
            <a:endParaRPr/>
          </a:p>
          <a:p>
            <a:r>
              <a:t>Team: Samseon Sukas</a:t>
            </a:r>
          </a:p>
          <a:p>
            <a:r>
              <a:t>College: SRM Institute of Science and Technology</a:t>
            </a:r>
          </a:p>
          <a:p>
            <a:r>
              <a:t>Members: Vaishnavi Jagtap (Team Leader), Aarav Pilania, Aryan Shukla.</a:t>
            </a:r>
          </a:p>
          <a:p>
            <a:r>
              <a:t>Theme: 05 — Interruptible Real-Time Agents.</a:t>
            </a:r>
          </a:p>
          <a:p>
            <a:r>
              <a:t>Public Repository: https://github.com/aryan-astra/Pivot at release tag PRISM_GENAI_HACKATHON_Y2026.</a:t>
            </a:r>
          </a:p>
          <a:p>
            <a:endParaRPr/>
          </a:p>
          <a:p>
            <a:r>
              <a:t>Summary of Submission:</a:t>
            </a:r>
          </a:p>
          <a:p>
            <a:r>
              <a:t>PIVOT delivers a robust, verified, interruptible execution runtime that solves the core concurrency and state consistency challenges of full-duplex conversational agents. By enforcing monotonic version fencing and dependency-aware invalidation, PIVOT proves that cancellation is advisory, but validity is 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E64-7CE6-4299-B8FE-939866A3E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360C-492F-4E2E-B967-599B2BD3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0CDB-78C3-4602-B35C-A826CBF2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5EF81-E96A-4C8D-A4F0-A9DF05C4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2448-68BE-42AE-8001-48ECE62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0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5E08-CE8A-45BE-8C3E-C04A49CC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CB0C-95AB-4F7A-955D-2DC18750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DA85-2FDE-4136-B9F6-AF096547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0367-ACE7-48B9-82C8-A7BFD1F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A210-6017-4F71-9E78-B2C329B4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2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E6C5-6752-4963-B842-280808B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6DFC-697D-4605-86C0-8572E022B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1469-A18C-498E-BACC-28BCBFE9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5D3B-1983-426F-A1AE-7470C43B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ABB1-45F2-4FEA-BB5A-3B053892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53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F4AE-F142-401B-A5D1-4A52FF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9BD1-2876-4C52-83CF-1CBA9D931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624D8-76A7-478F-ACA3-5749DEFD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A939-0957-4E96-B38D-0B2E39D4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D44E1-B8BA-490F-B30A-538CC4D4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BB79-7CA5-414E-B5B6-6A8E9AEE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6CE8-8BA4-4FB1-ACAA-E38F8ED7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0902-F321-482A-924A-FF9A87CA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B6F67-E437-4FE8-851B-B016F33C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E7897-2D17-49F8-8762-68F8D5794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E8E8-43BB-400D-8934-6D6B21D3A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B6608-03F3-45EF-80BD-C6E305C0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5D75D-3AD4-4D0E-A5BC-9000973F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6A546-DC61-467F-A112-3AC0277B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6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549-E392-4F05-B762-B5370E51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59880-A67D-4A24-9138-E937AE75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F6EC7-BFAB-4137-9343-C66B7829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6B929-B579-4261-8171-35357AE9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AFEDF-BA35-4A7C-9388-604C048D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80271-5700-43CC-A9BA-B2AAB47B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12EA-BE6D-4AE5-B09E-215DE5B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7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6235-A416-4C23-BE8E-8FC1CF0E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C36B-7DDF-4371-9F0A-6E5B6455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FA19A-E15E-47EA-B9B9-5F7FD0AA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84724-CA93-4332-A03F-0909AC52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302F-D853-499A-BB91-3BD5366E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AD427-BF9D-4A47-AF08-E4983B90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B540-7747-44F5-A3A4-69F051F3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392B5-0943-4B18-9708-C9FA86F8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FA04-BB4C-4DC0-9831-EB32549F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BDBD-01E1-44D7-AB93-513FF196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D7BDB-9CCD-44F3-A4FB-D4BAE589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8D8A-A70C-4D57-8271-DCF5EEF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3EB-C66D-4D2D-9928-25D57CFD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1A17B-5319-4265-82A2-5D286CFAF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2F85-7902-4426-947E-3509F7A0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658F-7DA3-40F3-B6FA-CF740F85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B0DE9-130B-4DA8-9A0C-06A295C9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5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594E2-CBC8-4A0C-A110-E3B5A301C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BD2EA-CB7C-4CAB-855D-57F791910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48B0-3CBB-41FA-A8EC-5DFC833D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08DA-D399-4DC8-89B1-C4EBC64D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6177-D647-4C5F-BA43-C02A1390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87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67A62-7E64-4BE9-8EDF-4904E871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73B9-1A82-4479-978C-9C873CC6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7FC6-3D78-48A7-A3DB-BFC7C0EA3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27EEE-1B67-445E-AA5D-351EC91D1DEB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C877-1137-446E-919A-C66E31331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8D39-C9B6-4DA9-9C05-38A0ECD4C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7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</a:t>
            </a:r>
            <a:r>
              <a:rPr lang="en-US" sz="20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2026 – 27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sz="1150" b="1">
                <a:solidFill>
                  <a:srgbClr val="704EA6"/>
                </a:solidFill>
                <a:latin typeface="Calibri"/>
              </a:rPr>
              <a:t>Theme ID - </a:t>
            </a:r>
            <a:r>
              <a:rPr sz="1150">
                <a:solidFill>
                  <a:srgbClr val="25241F"/>
                </a:solidFill>
                <a:latin typeface="Calibri"/>
              </a:rPr>
              <a:t>05 — Interruptible Real-Time Agents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1">
                <a:solidFill>
                  <a:srgbClr val="704EA6"/>
                </a:solidFill>
                <a:latin typeface="Calibri"/>
              </a:rPr>
              <a:t>Team Name - </a:t>
            </a:r>
            <a:r>
              <a:rPr sz="1150">
                <a:solidFill>
                  <a:srgbClr val="25241F"/>
                </a:solidFill>
                <a:latin typeface="Calibri"/>
              </a:rPr>
              <a:t>Samseon Sukas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1">
                <a:solidFill>
                  <a:srgbClr val="704EA6"/>
                </a:solidFill>
                <a:latin typeface="Calibri"/>
              </a:rPr>
              <a:t>College Name - </a:t>
            </a:r>
            <a:r>
              <a:rPr sz="1150">
                <a:solidFill>
                  <a:srgbClr val="25241F"/>
                </a:solidFill>
                <a:latin typeface="Calibri"/>
              </a:rPr>
              <a:t>SRM Institute of Science and Technology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1">
                <a:solidFill>
                  <a:srgbClr val="704EA6"/>
                </a:solidFill>
                <a:latin typeface="Calibri"/>
              </a:rPr>
              <a:t>Member Name &amp; Email 1- </a:t>
            </a:r>
            <a:r>
              <a:rPr sz="1150">
                <a:solidFill>
                  <a:srgbClr val="25241F"/>
                </a:solidFill>
                <a:latin typeface="Calibri"/>
              </a:rPr>
              <a:t>Vaishnavi Jagtap (Team Leader) · vj9724@srmist.edu.in · RA2411003011544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1">
                <a:solidFill>
                  <a:srgbClr val="704EA6"/>
                </a:solidFill>
                <a:latin typeface="Calibri"/>
              </a:rPr>
              <a:t>Member Name &amp; Email 2- </a:t>
            </a:r>
            <a:r>
              <a:rPr sz="1150">
                <a:solidFill>
                  <a:srgbClr val="25241F"/>
                </a:solidFill>
                <a:latin typeface="Calibri"/>
              </a:rPr>
              <a:t>Aarav Pilania · ap8442@srmist.edu.in · RA2411003011536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1">
                <a:solidFill>
                  <a:srgbClr val="704EA6"/>
                </a:solidFill>
                <a:latin typeface="Calibri"/>
              </a:rPr>
              <a:t>Member Name &amp; Email 3- </a:t>
            </a:r>
            <a:r>
              <a:rPr sz="1150">
                <a:solidFill>
                  <a:srgbClr val="25241F"/>
                </a:solidFill>
                <a:latin typeface="Calibri"/>
              </a:rPr>
              <a:t>Aryan Shukla · as6977@srmist.edu.in · RA2411003012361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1">
                <a:solidFill>
                  <a:srgbClr val="704EA6"/>
                </a:solidFill>
                <a:latin typeface="Calibri"/>
              </a:rPr>
              <a:t>Submission Github link - </a:t>
            </a:r>
            <a:r>
              <a:rPr sz="1150">
                <a:solidFill>
                  <a:srgbClr val="25241F"/>
                </a:solidFill>
                <a:latin typeface="Calibri"/>
              </a:rPr>
              <a:t>github.com/aryan-astra/Pivot</a:t>
            </a:r>
          </a:p>
        </p:txBody>
      </p:sp>
      <p:pic>
        <p:nvPicPr>
          <p:cNvPr id="14" name="Image 0" descr="hero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" y="5193792"/>
            <a:ext cx="6217920" cy="10515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230368"/>
            <a:ext cx="6035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PIVOT — Pivot Interruptible Execution Runtime</a:t>
            </a:r>
          </a:p>
          <a:p>
            <a:pPr>
              <a:spcBef>
                <a:spcPts val="200"/>
              </a:spcBef>
              <a:defRPr sz="1050">
                <a:solidFill>
                  <a:srgbClr val="25241F"/>
                </a:solidFill>
                <a:latin typeface="Calibri"/>
              </a:defRPr>
            </a:pPr>
            <a:r>
              <a:t>An interruptible execution runtime. Change your mind mid-execution — without losing valid work.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925621"/>
                </a:solidFill>
                <a:latin typeface="Calibri"/>
              </a:rPr>
              <a:t>Principle: Cancellation is advisory. Validity is authoritative.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5193792"/>
            <a:ext cx="4297680" cy="10515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5230368"/>
            <a:ext cx="4114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D28D9"/>
                </a:solidFill>
                <a:latin typeface="Arial"/>
              </a:defRPr>
            </a:pPr>
            <a:r>
              <a:t>Conceptual State Transition: v1 → v2</a:t>
            </a:r>
          </a:p>
          <a:p>
            <a:pPr>
              <a:spcBef>
                <a:spcPts val="2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• v1 Running: Amazon &amp; Flipkart store searches &amp; filters in flight</a:t>
            </a:r>
            <a:br/>
            <a:r>
              <a:t>• User Interruption: Budget updated (₹60,000 → ₹80,000)</a:t>
            </a:r>
            <a:br/>
            <a:r>
              <a:t>• v2 Replan: Valid search preserved; late v1 results rejected at 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704EA6"/>
                </a:solidFill>
                <a:latin typeface="+mn-lt"/>
                <a:cs typeface="Arial" pitchFamily="34" charset="-120"/>
              </a:rPr>
              <a:t>Theme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5074920" cy="452628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754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4EA6"/>
                </a:solidFill>
                <a:latin typeface="Arial"/>
              </a:defRPr>
            </a:pPr>
            <a:r>
              <a:t>The Challenge: Concurrency &amp; State Consistency</a:t>
            </a:r>
          </a:p>
          <a:p>
            <a:pPr>
              <a:spcBef>
                <a:spcPts val="800"/>
              </a:spcBef>
              <a:defRPr sz="1150" b="1">
                <a:solidFill>
                  <a:srgbClr val="14142B"/>
                </a:solidFill>
                <a:latin typeface="Calibri"/>
              </a:defRPr>
            </a:pPr>
            <a:r>
              <a:t>1. Concurrency on a Unified Timeline</a:t>
            </a:r>
          </a:p>
          <a:p>
            <a:pPr>
              <a:spcBef>
                <a:spcPts val="1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Perception, reasoning, tool execution, and speech must run concurrently in full-duplex conversational agents without blocking the user.</a:t>
            </a:r>
          </a:p>
          <a:p>
            <a:pPr>
              <a:spcBef>
                <a:spcPts val="800"/>
              </a:spcBef>
              <a:defRPr sz="1150" b="1">
                <a:solidFill>
                  <a:srgbClr val="14142B"/>
                </a:solidFill>
                <a:latin typeface="Calibri"/>
              </a:defRPr>
            </a:pPr>
            <a:r>
              <a:t>2. Dynamic User Mind-Changes</a:t>
            </a:r>
          </a:p>
          <a:p>
            <a:pPr>
              <a:spcBef>
                <a:spcPts val="1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Users frequently interrupt, adjust parameters, or change constraints mid-sentence while asynchronous tools and search workflows are executing.</a:t>
            </a:r>
          </a:p>
          <a:p>
            <a:pPr>
              <a:spcBef>
                <a:spcPts val="800"/>
              </a:spcBef>
              <a:defRPr sz="1150" b="1">
                <a:solidFill>
                  <a:srgbClr val="14142B"/>
                </a:solidFill>
                <a:latin typeface="Calibri"/>
              </a:defRPr>
            </a:pPr>
            <a:r>
              <a:t>3. Stale State Hazard</a:t>
            </a:r>
          </a:p>
          <a:p>
            <a:pPr>
              <a:spcBef>
                <a:spcPts val="1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When in-flight tools complete after constraints have shifted, committing their outputs creates corrupted snapshots and incorrect answers.</a:t>
            </a:r>
          </a:p>
          <a:p>
            <a:pPr>
              <a:spcBef>
                <a:spcPts val="800"/>
              </a:spcBef>
              <a:defRPr sz="1150" b="1">
                <a:solidFill>
                  <a:srgbClr val="14142B"/>
                </a:solidFill>
                <a:latin typeface="Calibri"/>
              </a:defRPr>
            </a:pPr>
            <a:r>
              <a:t>4. Wasteful Brute-Force Restarts</a:t>
            </a:r>
          </a:p>
          <a:p>
            <a:pPr>
              <a:spcBef>
                <a:spcPts val="1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Standard systems abort the entire agent pipeline, discarding completed valid work and forcing expensive, slow recomputation from scratch.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66360" cy="452628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4800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4EA6"/>
                </a:solidFill>
                <a:latin typeface="Arial"/>
              </a:defRPr>
            </a:pPr>
            <a:r>
              <a:t>Concept: Every task declares what it reads</a:t>
            </a:r>
          </a:p>
          <a:p>
            <a:pPr>
              <a:spcBef>
                <a:spcPts val="400"/>
              </a:spcBef>
              <a:defRPr sz="1050">
                <a:solidFill>
                  <a:srgbClr val="25241F"/>
                </a:solidFill>
                <a:latin typeface="Calibri"/>
              </a:defRPr>
            </a:pPr>
            <a:r>
              <a:t>Dependency-aware execution maps changed slot diffs against each task's declared read-set rather than aborting all tasks: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606040"/>
            <a:ext cx="4617720" cy="1005840"/>
          </a:xfrm>
          <a:prstGeom prst="roundRect">
            <a:avLst/>
          </a:prstGeom>
          <a:solidFill>
            <a:srgbClr val="FEF3E7"/>
          </a:solidFill>
          <a:ln w="12700">
            <a:solidFill>
              <a:srgbClr val="92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651760"/>
            <a:ext cx="4434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25621"/>
                </a:solidFill>
                <a:latin typeface="Calibri"/>
              </a:defRPr>
            </a:pPr>
            <a:r>
              <a:t>Tasks Reading Changed Field (e.g. max_price)</a:t>
            </a:r>
          </a:p>
          <a:p>
            <a:pPr>
              <a:defRPr sz="950">
                <a:solidFill>
                  <a:srgbClr val="25241F"/>
                </a:solidFill>
                <a:latin typeface="Calibri"/>
              </a:defRPr>
            </a:pPr>
            <a:r>
              <a:t>→ FENCED / INVALIDATED (stale). In-flight tasks are fenced; completed results are invalidated. Late results are rejected at the commit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703320"/>
            <a:ext cx="4617720" cy="96012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3749039"/>
            <a:ext cx="4434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  <a:latin typeface="Calibri"/>
              </a:defRPr>
            </a:pPr>
            <a:r>
              <a:t>Tasks NOT Reading Changed Field (e.g. store catalog search)</a:t>
            </a:r>
          </a:p>
          <a:p>
            <a:pPr>
              <a:defRPr sz="950">
                <a:solidFill>
                  <a:srgbClr val="25241F"/>
                </a:solidFill>
                <a:latin typeface="Calibri"/>
              </a:defRPr>
            </a:pPr>
            <a:r>
              <a:t>→ PRESERVED. Work remains valid and authoritative. Protected from invalidation, saving network latency, API cost, and re-execution.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4754880"/>
            <a:ext cx="4617720" cy="12344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4800600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Calibri"/>
              </a:defRPr>
            </a:pPr>
            <a:r>
              <a:t>Theme 05 Terminology in PIVOT Architecture</a:t>
            </a:r>
          </a:p>
          <a:p>
            <a:pPr>
              <a:defRPr sz="900">
                <a:solidFill>
                  <a:srgbClr val="25241F"/>
                </a:solidFill>
                <a:latin typeface="Calibri"/>
              </a:defRPr>
            </a:pPr>
            <a:r>
              <a:t>• Localized slot correction: targeted slot diff without resetting session.</a:t>
            </a:r>
            <a:br/>
            <a:r>
              <a:t>• Stale results: intercepted and rejected at monotonic commit gate.</a:t>
            </a:r>
            <a:br/>
            <a:r>
              <a:t>• Cancellation: advisory to workers; safety is strictly enforced by fence.</a:t>
            </a:r>
            <a:br/>
            <a:r>
              <a:t>• Recovery frontier: calculated graph cut for clean replacement plans.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2</a:t>
            </a:r>
          </a:p>
        </p:txBody>
      </p:sp>
    </p:spTree>
    <p:extLst>
      <p:ext uri="{BB962C8B-B14F-4D97-AF65-F5344CB8AC3E}">
        <p14:creationId xmlns:p14="http://schemas.microsoft.com/office/powerpoint/2010/main" val="2564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704EA6"/>
                </a:solidFill>
                <a:latin typeface="+mn-lt"/>
                <a:cs typeface="Arial" pitchFamily="34" charset="-120"/>
              </a:rPr>
              <a:t>Existing Solutions &amp;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507492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474573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1. Voice Barge-in &amp; Turn-Taking Stacks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4142B"/>
                </a:solidFill>
              </a:rPr>
              <a:t>Focus: </a:t>
            </a:r>
            <a:r>
              <a:rPr sz="1000">
                <a:solidFill>
                  <a:srgbClr val="25241F"/>
                </a:solidFill>
              </a:rPr>
              <a:t>Audio VAD &amp; silence detection in half-duplex pipelines.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C62828"/>
                </a:solidFill>
              </a:rPr>
              <a:t>When user changes mind: </a:t>
            </a:r>
            <a:r>
              <a:rPr sz="1000">
                <a:solidFill>
                  <a:srgbClr val="25241F"/>
                </a:solidFill>
              </a:rPr>
              <a:t>Stops speech output immediately; leaves background tool calls and asynchronous graph execution dangling uncoordinated.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6636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36792" y="1755648"/>
            <a:ext cx="483717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2. Tool-Call Cancellation Tokens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4142B"/>
                </a:solidFill>
              </a:rPr>
              <a:t>Focus: </a:t>
            </a:r>
            <a:r>
              <a:rPr sz="1000">
                <a:solidFill>
                  <a:srgbClr val="25241F"/>
                </a:solidFill>
              </a:rPr>
              <a:t>Asyncio / threading cancellation tokens (SIGINT, CancelledError).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C62828"/>
                </a:solidFill>
              </a:rPr>
              <a:t>When user changes mind: </a:t>
            </a:r>
            <a:r>
              <a:rPr sz="1000">
                <a:solidFill>
                  <a:srgbClr val="25241F"/>
                </a:solidFill>
              </a:rPr>
              <a:t>Cancellation is strictly advisory and best-effort; delayed network responses leak past cancellation and corrupt agent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246120"/>
            <a:ext cx="507492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355848"/>
            <a:ext cx="474573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3. Scripted Workflows &amp; Breakpoints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4142B"/>
                </a:solidFill>
              </a:rPr>
              <a:t>Focus: </a:t>
            </a:r>
            <a:r>
              <a:rPr sz="1000">
                <a:solidFill>
                  <a:srgbClr val="25241F"/>
                </a:solidFill>
              </a:rPr>
              <a:t>Pre-programmed DAGs with human-in-the-loop pause gates.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C62828"/>
                </a:solidFill>
              </a:rPr>
              <a:t>When user changes mind: </a:t>
            </a:r>
            <a:r>
              <a:rPr sz="1000">
                <a:solidFill>
                  <a:srgbClr val="25241F"/>
                </a:solidFill>
              </a:rPr>
              <a:t>Rigid step-by-step halting; cannot dynamically diff intent or re-route graph dependencies in flight.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16636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3355848"/>
            <a:ext cx="483717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4. LLM Agent Frameworks (ReAct)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14142B"/>
                </a:solidFill>
              </a:rPr>
              <a:t>Focus: </a:t>
            </a:r>
            <a:r>
              <a:rPr sz="1000">
                <a:solidFill>
                  <a:srgbClr val="25241F"/>
                </a:solidFill>
              </a:rPr>
              <a:t>Linear thought-action-observation scratchpads.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C62828"/>
                </a:solidFill>
              </a:rPr>
              <a:t>When user changes mind: </a:t>
            </a:r>
            <a:r>
              <a:rPr sz="1000">
                <a:solidFill>
                  <a:srgbClr val="25241F"/>
                </a:solidFill>
              </a:rPr>
              <a:t>Discards all conversational scratchpad state and restarts from scratch, repeating expensive completed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892040"/>
            <a:ext cx="10497312" cy="86868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56048"/>
            <a:ext cx="102595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5D9E2"/>
                </a:solidFill>
                <a:latin typeface="Arial"/>
              </a:defRPr>
            </a:pPr>
            <a:r>
              <a:t>THE PIVOT ARCHITECTURAL TRANSITION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Calibri"/>
              </a:defRPr>
            </a:pPr>
            <a:r>
              <a:t>Speech interruption → semantic interruption   |   Cancellation → validity</a:t>
            </a:r>
            <a:br/>
            <a:r>
              <a:t>Linear restart → dependency-aware invalidation   |   Late results accepted → stale results fenced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852160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3637E"/>
                </a:solidFill>
                <a:latin typeface="Calibri"/>
              </a:defRPr>
            </a:pPr>
            <a:r>
              <a:t>Footnote: Each system does its own job well; comparison basis is the team's own repository audit. (No competitor logos).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3</a:t>
            </a:r>
          </a:p>
        </p:txBody>
      </p:sp>
    </p:spTree>
    <p:extLst>
      <p:ext uri="{BB962C8B-B14F-4D97-AF65-F5344CB8AC3E}">
        <p14:creationId xmlns:p14="http://schemas.microsoft.com/office/powerpoint/2010/main" val="154997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704EA6"/>
                </a:solidFill>
                <a:latin typeface="+mn-lt"/>
              </a:rPr>
              <a:t>Our Solutions &amp;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1664208" cy="160020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5179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4EA6"/>
                </a:solidFill>
                <a:latin typeface="Arial"/>
              </a:defRPr>
            </a:pPr>
            <a:r>
              <a:t>INPUT</a:t>
            </a:r>
          </a:p>
          <a:p>
            <a:pPr algn="ctr">
              <a:spcBef>
                <a:spcPts val="4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Text &amp; Browser Dictation</a:t>
            </a:r>
            <a:br/>
            <a:r>
              <a:t>(Web Speech API)</a:t>
            </a:r>
            <a:br/>
            <a:r>
              <a:t>Fast input ingress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1645920"/>
            <a:ext cx="1664208" cy="160020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79192" y="1737360"/>
            <a:ext cx="15179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4EA6"/>
                </a:solidFill>
                <a:latin typeface="Arial"/>
              </a:defRPr>
            </a:pPr>
            <a:r>
              <a:t>INGEST</a:t>
            </a:r>
          </a:p>
          <a:p>
            <a:pPr algn="ctr">
              <a:spcBef>
                <a:spcPts val="4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FastAPI Router</a:t>
            </a:r>
            <a:br/>
            <a:r>
              <a:t>Typed Event Bus</a:t>
            </a:r>
            <a:br/>
            <a:r>
              <a:t>HTTP + WebSocket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1664208" cy="160020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43984" y="1737360"/>
            <a:ext cx="15179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4EA6"/>
                </a:solidFill>
                <a:latin typeface="Arial"/>
              </a:defRPr>
            </a:pPr>
            <a:r>
              <a:t>UNDERSTAND</a:t>
            </a:r>
          </a:p>
          <a:p>
            <a:pPr algn="ctr">
              <a:spcBef>
                <a:spcPts val="4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Classification</a:t>
            </a:r>
            <a:br/>
            <a:r>
              <a:t>(Backchannel/Modify)</a:t>
            </a:r>
            <a:br/>
            <a:r>
              <a:t>Deterministic Intent Parser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1645920"/>
            <a:ext cx="1664208" cy="1600200"/>
          </a:xfrm>
          <a:prstGeom prst="roundRect">
            <a:avLst/>
          </a:prstGeom>
          <a:solidFill>
            <a:srgbClr val="27313B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1737360"/>
            <a:ext cx="15179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D9E2"/>
                </a:solidFill>
                <a:latin typeface="Arial"/>
              </a:defRPr>
            </a:pPr>
            <a:r>
              <a:t>DECIDE</a:t>
            </a:r>
          </a:p>
          <a:p>
            <a:pPr algn="ctr"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Semantic Diff</a:t>
            </a:r>
            <a:br/>
            <a:r>
              <a:t>Read-Set Impact Analysis</a:t>
            </a:r>
            <a:br/>
            <a:r>
              <a:t>Dependency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1645920"/>
            <a:ext cx="1664208" cy="1600200"/>
          </a:xfrm>
          <a:prstGeom prst="roundRect">
            <a:avLst/>
          </a:prstGeom>
          <a:solidFill>
            <a:srgbClr val="27313B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1737360"/>
            <a:ext cx="15179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D9E2"/>
                </a:solidFill>
                <a:latin typeface="Arial"/>
              </a:defRPr>
            </a:pPr>
            <a:r>
              <a:t>PROTECT</a:t>
            </a:r>
          </a:p>
          <a:p>
            <a:pPr algn="ctr">
              <a:spcBef>
                <a:spcPts val="4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Monotonic Version (v1→v2)</a:t>
            </a:r>
            <a:br/>
            <a:r>
              <a:t>Commit-Time Fencing</a:t>
            </a:r>
            <a:br/>
            <a:r>
              <a:t>SQLite WAL Checkpoint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1645920"/>
            <a:ext cx="1664208" cy="160020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60" y="1737360"/>
            <a:ext cx="15179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4EA6"/>
                </a:solidFill>
                <a:latin typeface="Arial"/>
              </a:defRPr>
            </a:pPr>
            <a:r>
              <a:t>RECOVER</a:t>
            </a:r>
          </a:p>
          <a:p>
            <a:pPr algn="ctr">
              <a:spcBef>
                <a:spcPts val="4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Recovery Frontier</a:t>
            </a:r>
            <a:br/>
            <a:r>
              <a:t>TaskScheduler</a:t>
            </a:r>
            <a:br/>
            <a:r>
              <a:t>Playwright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83280"/>
            <a:ext cx="507492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474720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PERSISTENCE RAIL — SQLite (WAL)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• state_versions: Monotonic version counter, atomic snapshot rollback</a:t>
            </a:r>
            <a:br/>
            <a:r>
              <a:t>• events: Append-only ledger of typed events (TASK_PRESERVED, TASK_FENCED)</a:t>
            </a:r>
            <a:br/>
            <a:r>
              <a:t>• checkpoints: Consistent state transaction checkpoints across restarts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383280"/>
            <a:ext cx="516636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474720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WORKSPACE RAIL — React 19 UI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• Task Stream: Live task progress, phase derivation, non-blocking polling</a:t>
            </a:r>
            <a:br/>
            <a:r>
              <a:t>• Impact Card: Real-time semantic diff &amp; preserved/fenced breakdown</a:t>
            </a:r>
            <a:br/>
            <a:r>
              <a:t>• Dev Mode Inspector: Topological execution graph &amp; event timeline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983480"/>
            <a:ext cx="10497312" cy="594360"/>
          </a:xfrm>
          <a:prstGeom prst="roundRect">
            <a:avLst/>
          </a:prstGeom>
          <a:solidFill>
            <a:srgbClr val="FEF3E7"/>
          </a:solidFill>
          <a:ln w="12700">
            <a:solidFill>
              <a:srgbClr val="92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29200"/>
            <a:ext cx="10259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25621"/>
                </a:solidFill>
                <a:latin typeface="Arial"/>
              </a:rPr>
              <a:t>Commit Gate Rule: </a:t>
            </a:r>
            <a:r>
              <a:rPr sz="1000" b="1">
                <a:solidFill>
                  <a:srgbClr val="14142B"/>
                </a:solidFill>
                <a:latin typeface="Consolas"/>
              </a:rPr>
              <a:t>result.origin_version == state.version ? commit : STALE_RESULT_REJECTED
</a:t>
            </a:r>
            <a:r>
              <a:rPr sz="950" i="1">
                <a:solidFill>
                  <a:srgbClr val="25241F"/>
                </a:solidFill>
                <a:latin typeface="Calibri"/>
              </a:rPr>
              <a:t>Cancellation is cooperative; the fence does not depend on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650992"/>
            <a:ext cx="10497312" cy="4114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687568"/>
            <a:ext cx="10259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Cancellation is advisory. Validity is authoritative.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4</a:t>
            </a:r>
          </a:p>
        </p:txBody>
      </p:sp>
    </p:spTree>
    <p:extLst>
      <p:ext uri="{BB962C8B-B14F-4D97-AF65-F5344CB8AC3E}">
        <p14:creationId xmlns:p14="http://schemas.microsoft.com/office/powerpoint/2010/main" val="2579789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4EA6"/>
                </a:solidFill>
                <a:latin typeface="+mn-lt"/>
              </a:rPr>
              <a:t>Demo &amp; Product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00200"/>
            <a:ext cx="10497312" cy="59436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27632"/>
            <a:ext cx="102595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5D9E2"/>
                </a:solidFill>
                <a:latin typeface="Arial"/>
              </a:defRPr>
            </a:pPr>
            <a:r>
              <a:t>ASK → PLAN → CHANGE → DIFF → IMPACT → RECOVER → SETTLE</a:t>
            </a:r>
          </a:p>
          <a:p>
            <a:pPr algn="ctr">
              <a:spcBef>
                <a:spcPts val="100"/>
              </a:spcBef>
              <a:defRPr sz="950" b="1">
                <a:solidFill>
                  <a:srgbClr val="FFFFFF"/>
                </a:solidFill>
                <a:latin typeface="Calibri"/>
              </a:defRPr>
            </a:pPr>
            <a:r>
              <a:t>Request: "Laptops under ₹60K, 8 GB RAM" (6 tasks)  →  Interrupt: "Wait, budget is ₹80,000 now"  →  max_price ₹60K → ₹80K  →  PRESERVED 02 | INVALIDATED 02 | FENCED 02  →  STATE V2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267712"/>
            <a:ext cx="5074920" cy="1719072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ivot_s05_fig1_running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18004"/>
            <a:ext cx="2880360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0" y="2340864"/>
            <a:ext cx="19842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04EA6"/>
                </a:solidFill>
                <a:latin typeface="Arial"/>
              </a:defRPr>
            </a:pPr>
            <a:r>
              <a:t>1. In-Flight Execution (v1)</a:t>
            </a:r>
          </a:p>
          <a:p>
            <a:pPr>
              <a:spcBef>
                <a:spcPts val="3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Initial plan running under v1. Search Amazon/Flipkart &amp; Parse Amazon/Flipkart completed. Merge Candidates &amp; Compare &amp; Rank running.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67712"/>
            <a:ext cx="5074920" cy="1719072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ivot_s05_fig2_interrupt_di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2318004"/>
            <a:ext cx="288036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1432" y="2340864"/>
            <a:ext cx="19842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04EA6"/>
                </a:solidFill>
                <a:latin typeface="Arial"/>
              </a:defRPr>
            </a:pPr>
            <a:r>
              <a:t>2. Interruption &amp; Diff</a:t>
            </a:r>
          </a:p>
          <a:p>
            <a:pPr>
              <a:spcBef>
                <a:spcPts val="3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User interrupts: budget changed to ₹80,000. Semantic diff detects max_price ₹60K → ₹80K. Version increments v1 → v2.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069080"/>
            <a:ext cx="5074920" cy="1719072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ivot_s05_fig3_impact_fence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119372"/>
            <a:ext cx="2880360" cy="1618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0480" y="4142232"/>
            <a:ext cx="19842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04EA6"/>
                </a:solidFill>
                <a:latin typeface="Arial"/>
              </a:defRPr>
            </a:pPr>
            <a:r>
              <a:t>3. Dev Mode Inspector (v2)</a:t>
            </a:r>
          </a:p>
          <a:p>
            <a:pPr>
              <a:spcBef>
                <a:spcPts val="3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Dev Mode inspector shows settled impact: PRESERVED 02 (store searches), INVALIDATED 02 (price parses), FENCED 02 (Merge &amp; Compare).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69080"/>
            <a:ext cx="5074920" cy="1719072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ivot_s05_fig4_final_answer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4119372"/>
            <a:ext cx="2880360" cy="1618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71432" y="4142232"/>
            <a:ext cx="19842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04EA6"/>
                </a:solidFill>
                <a:latin typeface="Arial"/>
              </a:defRPr>
            </a:pPr>
            <a:r>
              <a:t>4. Settled Output (v2 Applied)</a:t>
            </a:r>
          </a:p>
          <a:p>
            <a:pPr>
              <a:spcBef>
                <a:spcPts val="3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Final response delivered under v2. State v2 applied badge displayed. Fenced late v1 results rejected; correct ₹80K laptops returned.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70448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 i="1">
                <a:solidFill>
                  <a:srgbClr val="63637E"/>
                </a:solidFill>
                <a:latin typeface="Calibri"/>
              </a:defRPr>
            </a:pPr>
            <a:r>
              <a:t>Shopping steps run as a labelled local simulation; browse and search steps drive real local Chromium.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5</a:t>
            </a:r>
          </a:p>
        </p:txBody>
      </p:sp>
    </p:spTree>
    <p:extLst>
      <p:ext uri="{BB962C8B-B14F-4D97-AF65-F5344CB8AC3E}">
        <p14:creationId xmlns:p14="http://schemas.microsoft.com/office/powerpoint/2010/main" val="11782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0976" y="175564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React 19, TypeScript, Vite 7, Tailwind 4, Framer Motion for reactive UI transitions and live graph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11296" y="164592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21024" y="175564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Runtime Engine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Python asyncio event loop, Monotonic State Manager, Semantic Diff, Directed Graph dependency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1072" y="175564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API / Backend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FastAPI, Pydantic v2 schemas, HTTP + WebSocket API (16 routes: 12 application routes + 4 docs routes).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51392" y="164592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75564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Browser Engine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Playwright driving headless Chromium sessions, full DOM text extraction, and JPEG visual snapshots.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42900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353872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Persistence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SQLite with Write-Ahead Logging (WAL) enabled, append-only event sourcing, state version checkpoints.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342900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353872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Provider Interfaces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Provider interfaces with deterministic implementations — the runtime needs zero API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42900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353872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Testing &amp; QA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pytest — 112/112 tests passing in 8.85 s; clean typecheck (tsc --noEmit); README link check; secret scan.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3429000"/>
            <a:ext cx="2487168" cy="1645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3538728"/>
            <a:ext cx="2267712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Packaging &amp; Deploy</a:t>
            </a:r>
          </a:p>
          <a:p>
            <a:pPr>
              <a:spcBef>
                <a:spcPts val="400"/>
              </a:spcBef>
              <a:defRPr sz="1000">
                <a:solidFill>
                  <a:srgbClr val="25241F"/>
                </a:solidFill>
                <a:latin typeface="Calibri"/>
              </a:defRPr>
            </a:pPr>
            <a:r>
              <a:t>Docker, docker-compose; Docker image pins Python 3.12; test suite verified locally.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257800"/>
            <a:ext cx="10497312" cy="5029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321808"/>
            <a:ext cx="102595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704EA6"/>
                </a:solidFill>
                <a:latin typeface="Arial"/>
              </a:defRPr>
            </a:pPr>
            <a:r>
              <a:t>These are infrastructure; the interruption policy is the engineering.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6</a:t>
            </a:r>
          </a:p>
        </p:txBody>
      </p:sp>
    </p:spTree>
    <p:extLst>
      <p:ext uri="{BB962C8B-B14F-4D97-AF65-F5344CB8AC3E}">
        <p14:creationId xmlns:p14="http://schemas.microsoft.com/office/powerpoint/2010/main" val="372482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507492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745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1. Comparison Shopping</a:t>
            </a:r>
          </a:p>
          <a:p>
            <a:pPr>
              <a:spcBef>
                <a:spcPts val="3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Initial Query: "Find laptops under ₹60,000 with 8 GB RAM"</a:t>
            </a:r>
            <a:br/>
            <a:r>
              <a:t>Interruption: "16 GB instead of 8 GB"</a:t>
            </a:r>
            <a:br/>
            <a:r>
              <a:t>Runtime Impact: Memory constraint is updated; initial retailer catalog fetches are preserved; downstream candidate filter and ranking tasks are invalidated and replanned cleanly.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6636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36792" y="1737360"/>
            <a:ext cx="48371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2. Travel Planning</a:t>
            </a:r>
          </a:p>
          <a:p>
            <a:pPr>
              <a:spcBef>
                <a:spcPts val="3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Initial Query: "Morning flights to Bangalore with hotel booking"</a:t>
            </a:r>
            <a:br/>
            <a:r>
              <a:t>Interruption: "Make it Chennai instead"</a:t>
            </a:r>
            <a:br/>
            <a:r>
              <a:t>Runtime Impact: Destination slot is updated; hotel and city-specific flights are invalidated and re-planned; user travel dates, seat preferences, and traveler profile tasks are preserved.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246120"/>
            <a:ext cx="507492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745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3. Research Lookups</a:t>
            </a:r>
          </a:p>
          <a:p>
            <a:pPr>
              <a:spcBef>
                <a:spcPts val="3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Initial Query: "Executive biography and career milestone timeline"</a:t>
            </a:r>
            <a:br/>
            <a:r>
              <a:t>Interruption: "Change Elon Musk to Sam Altman"</a:t>
            </a:r>
            <a:br/>
            <a:r>
              <a:t>Runtime Impact: Target entity slot is updated; timeline report structure and layout are preserved; biographical extraction tasks are refetched via Chromium without resetting document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16636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3337560"/>
            <a:ext cx="48371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4. Support-Style Clarification</a:t>
            </a:r>
          </a:p>
          <a:p>
            <a:pPr>
              <a:spcBef>
                <a:spcPts val="3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Initial Query: "Order tracking and package status"</a:t>
            </a:r>
            <a:br/>
            <a:r>
              <a:t>Interruption: "Why are you checking Flipkart?"</a:t>
            </a:r>
            <a:br/>
            <a:r>
              <a:t>Runtime Impact: Clarification intent detected; execution is NOT cancelled or interrupted; runtime delivers an inline explanatory turn while background tracking continues uninterrupted.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892040"/>
            <a:ext cx="10497312" cy="77724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56048"/>
            <a:ext cx="10259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7D32"/>
                </a:solidFill>
                <a:latin typeface="Arial"/>
              </a:defRPr>
            </a:pPr>
            <a:r>
              <a:t>CORE USER &amp; SYSTEM BENEFITS</a:t>
            </a:r>
          </a:p>
          <a:p>
            <a:pPr>
              <a:spcBef>
                <a:spcPts val="200"/>
              </a:spcBef>
              <a:defRPr sz="1100" b="1">
                <a:solidFill>
                  <a:srgbClr val="14142B"/>
                </a:solidFill>
                <a:latin typeface="Calibri"/>
              </a:defRPr>
            </a:pPr>
            <a:r>
              <a:t>• Valid work survives a change of mind   • Less recomputation and reduced latency</a:t>
            </a:r>
            <a:br/>
            <a:r>
              <a:t>• State stays consistent under late results   • Changed intent wins over stale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806440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3637E"/>
                </a:solidFill>
                <a:latin typeface="Calibri"/>
              </a:defRPr>
            </a:pPr>
            <a:r>
              <a:t>Footnote: Potential applications implied by the design; no customer deployments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7</a:t>
            </a:r>
          </a:p>
        </p:txBody>
      </p:sp>
    </p:spTree>
    <p:extLst>
      <p:ext uri="{BB962C8B-B14F-4D97-AF65-F5344CB8AC3E}">
        <p14:creationId xmlns:p14="http://schemas.microsoft.com/office/powerpoint/2010/main" val="366811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and limitations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7132320" cy="150876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19072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Core Technical Innovations</a:t>
            </a:r>
          </a:p>
          <a:p>
            <a:pPr>
              <a:spcBef>
                <a:spcPts val="3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• Versioned State with Commit-Time Fencing: Monotonic version check blocks late zombie overwrites.</a:t>
            </a:r>
            <a:br/>
            <a:r>
              <a:t>• Semantic Diff &amp; Read-Set Impact Analysis: Dependency-aware slot diffing (2.14 µs / 3.67 µs mean).</a:t>
            </a:r>
            <a:br/>
            <a:r>
              <a:t>• Explicit Preserved / Stale / Fenced States: Clear triage of running, finished, and invalidated tasks.</a:t>
            </a:r>
            <a:br/>
            <a:r>
              <a:t>• Cooperative Cancellation with Authoritative Fence: Cancellation is advisory; commit gate is strict.</a:t>
            </a:r>
            <a:br/>
            <a:r>
              <a:t>• Event-Sourced Audit Trail: Append-only ledger of state transitions and task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246120"/>
            <a:ext cx="3749039" cy="269748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3520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E7D32"/>
                </a:solidFill>
                <a:latin typeface="Arial"/>
              </a:defRPr>
            </a:pPr>
            <a:r>
              <a:t>Verified Performance Results</a:t>
            </a:r>
          </a:p>
          <a:p>
            <a:pPr>
              <a:spcBef>
                <a:spcPts val="3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• 112/112 tests passing (41 browser + 71 runtime) in 8.85 s</a:t>
            </a:r>
            <a:br/>
            <a:r>
              <a:t>• 11.00 ms median interrupt handling (POST /api/interrupt, 15 local runs, 6 tasks scheduled)</a:t>
            </a:r>
            <a:br/>
            <a:r>
              <a:t>• 2.14 µs semantic diff · 3.67 µs impact analysis · 0.72 µs recovery-frontier computation</a:t>
            </a:r>
            <a:br/>
            <a:r>
              <a:t>• Budget demo: 2 preserved / 2 invalidated / 2 fenced (impact score 0.33)</a:t>
            </a:r>
            <a:br/>
            <a:r>
              <a:t>• Two v1 results independently observed rejected with STALE_RESULT_REJECTED</a:t>
            </a:r>
            <a:br/>
            <a:r>
              <a:t>• Clean frontend typecheck (tsc --noEmit); 16 FastAPI routes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3246120"/>
            <a:ext cx="3264408" cy="269748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ivot_s08_fig1_fence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337560"/>
            <a:ext cx="3081528" cy="1728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00600" y="5102352"/>
            <a:ext cx="3081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4EA6"/>
                </a:solidFill>
                <a:latin typeface="Arial"/>
              </a:defRPr>
            </a:pPr>
            <a:r>
              <a:t>Visual Evidence: task.fenced Event</a:t>
            </a:r>
          </a:p>
          <a:p>
            <a:pPr>
              <a:defRPr sz="850">
                <a:solidFill>
                  <a:srgbClr val="25241F"/>
                </a:solidFill>
                <a:latin typeface="Calibri"/>
              </a:defRPr>
            </a:pPr>
            <a:r>
              <a:t>Dev Mode event timeline confirming task.fenced payload, monotonic version bump, and clean v2 reconciliation.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00400" cy="429768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2828"/>
                </a:solidFill>
                <a:latin typeface="Arial"/>
              </a:defRPr>
            </a:pPr>
            <a:r>
              <a:t>Factual Limitations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1. Deterministic pattern-based intent parsing: common patterns, not general NLU.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2. Shopping comparison is simulated; live browsing covers real pages.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3. Interruption scoring is a heuristic.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4. No audio/video-frame input yet.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5. No evaluation-kit score; the kit was released post-registration.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6. Replan currently regenerates the full plan under v2 with the recovery frontier computed and reported.</a:t>
            </a:r>
          </a:p>
          <a:p>
            <a:pPr>
              <a:spcBef>
                <a:spcPts val="500"/>
              </a:spcBef>
              <a:defRPr sz="900">
                <a:solidFill>
                  <a:srgbClr val="25241F"/>
                </a:solidFill>
                <a:latin typeface="Calibri"/>
              </a:defRPr>
            </a:pPr>
            <a:r>
              <a:t>7. Single-instance SQLite.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8</a:t>
            </a:r>
          </a:p>
        </p:txBody>
      </p:sp>
    </p:spTree>
    <p:extLst>
      <p:ext uri="{BB962C8B-B14F-4D97-AF65-F5344CB8AC3E}">
        <p14:creationId xmlns:p14="http://schemas.microsoft.com/office/powerpoint/2010/main" val="199323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10497312" cy="411480"/>
          </a:xfrm>
          <a:prstGeom prst="roundRect">
            <a:avLst/>
          </a:prstGeom>
          <a:solidFill>
            <a:srgbClr val="70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82496"/>
            <a:ext cx="10259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FUTURE ROADMAP — All items on this slide represent planned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94560"/>
            <a:ext cx="3310128" cy="3977639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980944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RUNTIME LANE</a:t>
            </a:r>
          </a:p>
          <a:p>
            <a:pPr>
              <a:spcBef>
                <a:spcPts val="6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1. LLM Intent Parsing</a:t>
            </a:r>
            <a:br/>
            <a:r>
              <a:t>Plug general LLM intent parsing behind the existing provider interface, retaining the deterministic parser as high-speed fallback.</a:t>
            </a:r>
            <a:br/>
            <a:br/>
            <a:r>
              <a:t>2. Scoped Frontier Replanning</a:t>
            </a:r>
            <a:br/>
            <a:r>
              <a:t>Scope replanning exclusively to the computed recovery frontier and automatically inject preserved task outputs into the replacement plan.</a:t>
            </a:r>
            <a:br/>
            <a:br/>
            <a:r>
              <a:t>3. Production Idempotency Guard</a:t>
            </a:r>
            <a:br/>
            <a:r>
              <a:t>Enforce strict idempotency tokens on all external state-changing tool executions to eliminate duplicate external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94560"/>
            <a:ext cx="3310128" cy="3977639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2331720"/>
            <a:ext cx="2980944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EVALUATION &amp; CONTRACT LANE</a:t>
            </a:r>
          </a:p>
          <a:p>
            <a:pPr>
              <a:spcBef>
                <a:spcPts val="6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1. Official Evaluation Kit</a:t>
            </a:r>
            <a:br/>
            <a:r>
              <a:t>Execute the official Samsung PRISM evaluation kit once released post-registration across all ~60 hidden scenarios.</a:t>
            </a:r>
            <a:br/>
            <a:br/>
            <a:r>
              <a:t>2. Protocol Interface Alignment</a:t>
            </a:r>
            <a:br/>
            <a:r>
              <a:t>Implement timestamped event queues, structured action outputs, explicit call_id identifiers, and end-of-turn markers.</a:t>
            </a:r>
            <a:br/>
            <a:br/>
            <a:r>
              <a:t>3. Multimodal Input Channels</a:t>
            </a:r>
            <a:br/>
            <a:r>
              <a:t>Add native audio (WAV) and video-frame (PNG) streaming behind conversational acknowledgments.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194560"/>
            <a:ext cx="3310128" cy="3977639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3024" y="2331720"/>
            <a:ext cx="2980944" cy="370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4EA6"/>
                </a:solidFill>
                <a:latin typeface="Arial"/>
              </a:defRPr>
            </a:pPr>
            <a:r>
              <a:t>PRODUCT LANE</a:t>
            </a:r>
          </a:p>
          <a:p>
            <a:pPr>
              <a:spcBef>
                <a:spcPts val="600"/>
              </a:spcBef>
              <a:defRPr sz="950">
                <a:solidFill>
                  <a:srgbClr val="25241F"/>
                </a:solidFill>
                <a:latin typeface="Calibri"/>
              </a:defRPr>
            </a:pPr>
            <a:r>
              <a:t>1. Extended Tool Connectors</a:t>
            </a:r>
            <a:br/>
            <a:r>
              <a:t>Broaden the tool library to include live e-commerce APIs, enterprise CRM lookups, and multi-page web search agents.</a:t>
            </a:r>
            <a:br/>
            <a:br/>
            <a:r>
              <a:t>2. Distributed Persistence</a:t>
            </a:r>
            <a:br/>
            <a:r>
              <a:t>Migrate single-instance SQLite WAL to distributed PostgreSQL / Redis event streaming for high-throughput scaling.</a:t>
            </a:r>
            <a:br/>
            <a:br/>
            <a:r>
              <a:t>3. Multi-Session Management</a:t>
            </a:r>
            <a:br/>
            <a:r>
              <a:t>Support concurrent user sessions with tenant-isolated state graphs and conversation memories.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9</a:t>
            </a:r>
          </a:p>
        </p:txBody>
      </p:sp>
    </p:spTree>
    <p:extLst>
      <p:ext uri="{BB962C8B-B14F-4D97-AF65-F5344CB8AC3E}">
        <p14:creationId xmlns:p14="http://schemas.microsoft.com/office/powerpoint/2010/main" val="398591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4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slide( differentiation)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10497312" cy="4434840"/>
          </a:xfrm>
          <a:prstGeom prst="roundRect">
            <a:avLst/>
          </a:prstGeom>
          <a:solidFill>
            <a:srgbClr val="27313B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75564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5D9E2"/>
                </a:solidFill>
                <a:latin typeface="Arial"/>
              </a:defRPr>
            </a:pPr>
            <a:r>
              <a:t>Why this is not just another voice agent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A voice agent stops talking when you interrupt. PIVOT stops the work that is no longer valid — and keeps the rest.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578608"/>
            <a:ext cx="10076688" cy="585216"/>
          </a:xfrm>
          <a:prstGeom prst="roundRect">
            <a:avLst/>
          </a:prstGeom>
          <a:solidFill>
            <a:srgbClr val="1E2630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633472"/>
            <a:ext cx="9893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1. Semantic Work Invalidation   </a:t>
            </a:r>
            <a:r>
              <a:rPr sz="900" b="1">
                <a:solidFill>
                  <a:srgbClr val="B5D9E2"/>
                </a:solidFill>
                <a:latin typeface="Consolas"/>
              </a:rPr>
              <a:t>[read-set vs changed fields]   </a:t>
            </a:r>
            <a:r>
              <a:rPr sz="950">
                <a:solidFill>
                  <a:srgbClr val="DFE4EA"/>
                </a:solidFill>
                <a:latin typeface="Calibri"/>
              </a:rPr>
              <a:t>Evaluates task read-sets against changed slot diffs rather than blindly aborting the execution 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246120"/>
            <a:ext cx="10076688" cy="585216"/>
          </a:xfrm>
          <a:prstGeom prst="roundRect">
            <a:avLst/>
          </a:prstGeom>
          <a:solidFill>
            <a:srgbClr val="1E2630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300984"/>
            <a:ext cx="9893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2. State-Version Fencing   </a:t>
            </a:r>
            <a:r>
              <a:rPr sz="900" b="1">
                <a:solidFill>
                  <a:srgbClr val="B5D9E2"/>
                </a:solidFill>
                <a:latin typeface="Consolas"/>
              </a:rPr>
              <a:t>[STALE_RESULT_REJECTED]   </a:t>
            </a:r>
            <a:r>
              <a:rPr sz="950">
                <a:solidFill>
                  <a:srgbClr val="DFE4EA"/>
                </a:solidFill>
                <a:latin typeface="Calibri"/>
              </a:rPr>
              <a:t>Monotonic version check at the commit gate authoritatively prevents late in-flight results from poisoning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913632"/>
            <a:ext cx="10076688" cy="585216"/>
          </a:xfrm>
          <a:prstGeom prst="roundRect">
            <a:avLst/>
          </a:prstGeom>
          <a:solidFill>
            <a:srgbClr val="1E2630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968496"/>
            <a:ext cx="9893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3. Recovery is Computed   </a:t>
            </a:r>
            <a:r>
              <a:rPr sz="900" b="1">
                <a:solidFill>
                  <a:srgbClr val="B5D9E2"/>
                </a:solidFill>
                <a:latin typeface="Consolas"/>
              </a:rPr>
              <a:t>[get_recovery_frontier]   </a:t>
            </a:r>
            <a:r>
              <a:rPr sz="950">
                <a:solidFill>
                  <a:srgbClr val="DFE4EA"/>
                </a:solidFill>
                <a:latin typeface="Calibri"/>
              </a:rPr>
              <a:t>Explicit frontier graph calculation isolates the exact boundary of invalidated work for clean replacement planning.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581144"/>
            <a:ext cx="10076688" cy="585216"/>
          </a:xfrm>
          <a:prstGeom prst="roundRect">
            <a:avLst/>
          </a:prstGeom>
          <a:solidFill>
            <a:srgbClr val="1E2630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636008"/>
            <a:ext cx="9893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4. Preserved Work is Explicit   </a:t>
            </a:r>
            <a:r>
              <a:rPr sz="900" b="1">
                <a:solidFill>
                  <a:srgbClr val="B5D9E2"/>
                </a:solidFill>
                <a:latin typeface="Consolas"/>
              </a:rPr>
              <a:t>[TASK_PRESERVED]   </a:t>
            </a:r>
            <a:r>
              <a:rPr sz="950">
                <a:solidFill>
                  <a:srgbClr val="DFE4EA"/>
                </a:solidFill>
                <a:latin typeface="Calibri"/>
              </a:rPr>
              <a:t>Unaffected tasks are marked preserved with explicit events emitted to the UI timeline and persistent SQLite ledger.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248656"/>
            <a:ext cx="10076688" cy="585216"/>
          </a:xfrm>
          <a:prstGeom prst="roundRect">
            <a:avLst/>
          </a:prstGeom>
          <a:solidFill>
            <a:srgbClr val="1E2630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303520"/>
            <a:ext cx="9893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5. Runtime-First, Models Optional   </a:t>
            </a:r>
            <a:r>
              <a:rPr sz="900" b="1">
                <a:solidFill>
                  <a:srgbClr val="B5D9E2"/>
                </a:solidFill>
                <a:latin typeface="Consolas"/>
              </a:rPr>
              <a:t>[deterministic core, zero keys]   </a:t>
            </a:r>
            <a:r>
              <a:rPr sz="950">
                <a:solidFill>
                  <a:srgbClr val="DFE4EA"/>
                </a:solidFill>
                <a:latin typeface="Calibri"/>
              </a:rPr>
              <a:t>Deterministic local algorithms with zero API keys and microsecond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10</a:t>
            </a:r>
          </a:p>
        </p:txBody>
      </p:sp>
    </p:spTree>
    <p:extLst>
      <p:ext uri="{BB962C8B-B14F-4D97-AF65-F5344CB8AC3E}">
        <p14:creationId xmlns:p14="http://schemas.microsoft.com/office/powerpoint/2010/main" val="20955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E28A-8ABF-4E15-B9E1-B0F49C0E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4EA6"/>
                </a:solidFill>
                <a:latin typeface="+mn-lt"/>
              </a:rPr>
              <a:t>Checklist- Updated on Public GitHub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10497312" cy="77724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914400" cy="50292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37360"/>
            <a:ext cx="9006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42B"/>
                </a:solidFill>
                <a:latin typeface="Calibri"/>
              </a:defRPr>
            </a:pPr>
            <a:r>
              <a:t>Working prototype code — public or shared GitHub repo (Y/N)</a:t>
            </a:r>
          </a:p>
          <a:p>
            <a:pPr>
              <a:spcBef>
                <a:spcPts val="200"/>
              </a:spcBef>
              <a:defRPr sz="1050">
                <a:solidFill>
                  <a:srgbClr val="63637E"/>
                </a:solidFill>
                <a:latin typeface="Calibri"/>
              </a:defRPr>
            </a:pPr>
            <a:r>
              <a:t>Public repository: github.com/aryan-astra/Pivot (Release tag: PRISM_GENAI_HACKATHON_Y2026)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32888"/>
            <a:ext cx="10497312" cy="77724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2670048"/>
            <a:ext cx="914400" cy="50292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24328"/>
            <a:ext cx="9006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42B"/>
                </a:solidFill>
                <a:latin typeface="Calibri"/>
              </a:defRPr>
            </a:pPr>
            <a:r>
              <a:t>README with reproducible setup instructions (Y/N)</a:t>
            </a:r>
          </a:p>
          <a:p>
            <a:pPr>
              <a:spcBef>
                <a:spcPts val="200"/>
              </a:spcBef>
              <a:defRPr sz="1050">
                <a:solidFill>
                  <a:srgbClr val="63637E"/>
                </a:solidFill>
                <a:latin typeface="Calibri"/>
              </a:defRPr>
            </a:pPr>
            <a:r>
              <a:t>Comprehensive setup guide, 43 verified markdown references, docker-compose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419856"/>
            <a:ext cx="10497312" cy="77724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3557016"/>
            <a:ext cx="914400" cy="50292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602736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11296"/>
            <a:ext cx="9006840" cy="51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42B"/>
                </a:solidFill>
                <a:latin typeface="Calibri"/>
              </a:defRPr>
            </a:pPr>
            <a:r>
              <a:rPr dirty="0"/>
              <a:t>Demo video, max 5 minutes (YouTube or Drive link)</a:t>
            </a:r>
          </a:p>
          <a:p>
            <a:pPr>
              <a:spcBef>
                <a:spcPts val="200"/>
              </a:spcBef>
              <a:defRPr sz="1050">
                <a:solidFill>
                  <a:srgbClr val="63637E"/>
                </a:solidFill>
                <a:latin typeface="Calibri"/>
              </a:defRPr>
            </a:pPr>
            <a:r>
              <a:rPr lang="en-US" sz="1400" dirty="0">
                <a:solidFill>
                  <a:srgbClr val="0070C0"/>
                </a:solidFill>
              </a:rPr>
              <a:t>https://drive.google.com/file/d/1DcgS1CpTjkDxaqSFtwKn6UR92573X751/view?usp=sharing</a:t>
            </a:r>
            <a:endParaRPr sz="1400" dirty="0">
              <a:solidFill>
                <a:srgbClr val="0070C0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" y="4306824"/>
            <a:ext cx="10497312" cy="77724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DED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5840" y="4443984"/>
            <a:ext cx="914400" cy="502920"/>
          </a:xfrm>
          <a:prstGeom prst="roundRect">
            <a:avLst/>
          </a:prstGeom>
          <a:solidFill>
            <a:srgbClr val="EA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89704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398264"/>
            <a:ext cx="9006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142B"/>
                </a:solidFill>
                <a:latin typeface="Calibri"/>
              </a:defRPr>
            </a:pPr>
            <a:r>
              <a:t>Presentation file (PPT or PDF) (Y/N)</a:t>
            </a:r>
          </a:p>
          <a:p>
            <a:pPr>
              <a:spcBef>
                <a:spcPts val="200"/>
              </a:spcBef>
              <a:defRPr sz="1050">
                <a:solidFill>
                  <a:srgbClr val="63637E"/>
                </a:solidFill>
                <a:latin typeface="Calibri"/>
              </a:defRPr>
            </a:pPr>
            <a:r>
              <a:t>Complete official submission deck conforming to template geometry and test evidence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120640"/>
            <a:ext cx="10497312" cy="731520"/>
          </a:xfrm>
          <a:prstGeom prst="roundRect">
            <a:avLst/>
          </a:prstGeom>
          <a:solidFill>
            <a:srgbClr val="F9F8FD"/>
          </a:solidFill>
          <a:ln w="1270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93792"/>
            <a:ext cx="10259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04EA6"/>
                </a:solidFill>
                <a:latin typeface="Arial"/>
              </a:defRPr>
            </a:pPr>
            <a:r>
              <a:t>VERIFIED REPOSITORY TEST EVIDENCE</a:t>
            </a:r>
          </a:p>
          <a:p>
            <a:pPr>
              <a:spcBef>
                <a:spcPts val="200"/>
              </a:spcBef>
              <a:defRPr sz="1100" b="1">
                <a:solidFill>
                  <a:srgbClr val="25241F"/>
                </a:solidFill>
                <a:latin typeface="Calibri"/>
              </a:defRPr>
            </a:pPr>
            <a:r>
              <a:t>112/112 tests passing (8.85 s)  |  Clean typecheck (tsc --noEmit)  |  Security scan clean (0 secrets in 94 files)  |  16 FastAPI routes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3276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3637E"/>
                </a:solidFill>
                <a:latin typeface="Calibri"/>
              </a:defRPr>
            </a:pPr>
            <a:r>
              <a:t>PIVOT · Theme 05 — Interruptible Real-Time Agents · Samsung PRISM GenAI Hackathon 2026  |  Slide 11</a:t>
            </a:r>
          </a:p>
        </p:txBody>
      </p:sp>
    </p:spTree>
    <p:extLst>
      <p:ext uri="{BB962C8B-B14F-4D97-AF65-F5344CB8AC3E}">
        <p14:creationId xmlns:p14="http://schemas.microsoft.com/office/powerpoint/2010/main" val="18069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41248" y="731520"/>
            <a:ext cx="10497312" cy="5303520"/>
          </a:xfrm>
          <a:prstGeom prst="roundRect">
            <a:avLst/>
          </a:prstGeom>
          <a:solidFill>
            <a:srgbClr val="27313B"/>
          </a:solidFill>
          <a:ln w="12700">
            <a:solidFill>
              <a:srgbClr val="3E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23160"/>
            <a:ext cx="9144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5D9E2"/>
                </a:solidFill>
                <a:latin typeface="Arial"/>
              </a:defRPr>
            </a:pPr>
            <a:r>
              <a:t>The models are replaceable. The runtime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PIVOT — Pivot Interruptible Execution Runtime</a:t>
            </a:r>
          </a:p>
          <a:p>
            <a:pPr>
              <a:spcBef>
                <a:spcPts val="600"/>
              </a:spcBef>
              <a:defRPr sz="1200">
                <a:solidFill>
                  <a:srgbClr val="DFE4EA"/>
                </a:solidFill>
                <a:latin typeface="Calibri"/>
              </a:defRPr>
            </a:pPr>
            <a:r>
              <a:t>Repository: github.com/aryan-astra/Pivot  |  Theme 05 — Interruptible Real-Time Agents</a:t>
            </a:r>
            <a:br/>
            <a:r>
              <a:t>Team: Samseon Sukas  ·  SRM Institute of Science and Technology</a:t>
            </a:r>
            <a:br/>
            <a:r>
              <a:t>Team Members: Vaishnavi Jagtap (Team Leader) · Aarav Pilania · Aryan Shukla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72200"/>
            <a:ext cx="10497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637E"/>
                </a:solidFill>
                <a:latin typeface="Calibri"/>
              </a:defRPr>
            </a:pPr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5510</Words>
  <Application>Microsoft Office PowerPoint</Application>
  <PresentationFormat>Widescreen</PresentationFormat>
  <Paragraphs>327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Binny Lakra/PRISM /SRI-Bangalore/Professional/Samsung Electronics</dc:creator>
  <cp:lastModifiedBy>Aryan Shukla</cp:lastModifiedBy>
  <cp:revision>7</cp:revision>
  <dcterms:created xsi:type="dcterms:W3CDTF">2026-09-07T12:01:01Z</dcterms:created>
  <dcterms:modified xsi:type="dcterms:W3CDTF">2026-09-30T16:37:11Z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